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1242" y="9853865"/>
            <a:ext cx="5467286" cy="45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97351" y="9917379"/>
            <a:ext cx="20701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46730" y="743654"/>
            <a:ext cx="2503805" cy="771525"/>
          </a:xfrm>
          <a:prstGeom prst="rect">
            <a:avLst/>
          </a:prstGeom>
        </p:spPr>
        <p:txBody>
          <a:bodyPr wrap="square" lIns="0" tIns="1568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35"/>
              </a:spcBef>
            </a:pPr>
            <a:r>
              <a:rPr dirty="0" sz="1800" spc="-10" b="1">
                <a:latin typeface="Times New Roman"/>
                <a:cs typeface="Times New Roman"/>
              </a:rPr>
              <a:t>Summer</a:t>
            </a:r>
            <a:r>
              <a:rPr dirty="0" sz="1800" spc="-10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Training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Report</a:t>
            </a:r>
            <a:endParaRPr sz="1800">
              <a:latin typeface="Times New Roman"/>
              <a:cs typeface="Times New Roman"/>
            </a:endParaRPr>
          </a:p>
          <a:p>
            <a:pPr algn="ctr" marR="27305">
              <a:lnSpc>
                <a:spcPct val="100000"/>
              </a:lnSpc>
              <a:spcBef>
                <a:spcPts val="894"/>
              </a:spcBef>
            </a:pPr>
            <a:r>
              <a:rPr dirty="0" sz="1400" spc="-10" b="1">
                <a:latin typeface="Times New Roman"/>
                <a:cs typeface="Times New Roman"/>
              </a:rPr>
              <a:t>W3grads(Flames’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25)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68930" y="1944877"/>
            <a:ext cx="2823210" cy="29591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298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r>
              <a:rPr dirty="0" sz="1550" spc="-40">
                <a:solidFill>
                  <a:srgbClr val="EFEFEF"/>
                </a:solidFill>
                <a:latin typeface="Lucida Sans Unicode"/>
                <a:cs typeface="Lucida Sans Unicode"/>
              </a:rPr>
              <a:t>Full</a:t>
            </a:r>
            <a:r>
              <a:rPr dirty="0" sz="1550" spc="-30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5">
                <a:solidFill>
                  <a:srgbClr val="EFEFEF"/>
                </a:solidFill>
                <a:latin typeface="Lucida Sans Unicode"/>
                <a:cs typeface="Lucida Sans Unicode"/>
              </a:rPr>
              <a:t>Stack</a:t>
            </a:r>
            <a:r>
              <a:rPr dirty="0" sz="1550" spc="-40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50">
                <a:solidFill>
                  <a:srgbClr val="EFEFEF"/>
                </a:solidFill>
                <a:latin typeface="Lucida Sans Unicode"/>
                <a:cs typeface="Lucida Sans Unicode"/>
              </a:rPr>
              <a:t>(MERN)</a:t>
            </a:r>
            <a:r>
              <a:rPr dirty="0" sz="1550" spc="-20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50">
                <a:solidFill>
                  <a:srgbClr val="EFEFEF"/>
                </a:solidFill>
                <a:latin typeface="Lucida Sans Unicode"/>
                <a:cs typeface="Lucida Sans Unicode"/>
              </a:rPr>
              <a:t>with</a:t>
            </a:r>
            <a:r>
              <a:rPr dirty="0" sz="1550" spc="-30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50" spc="55">
                <a:solidFill>
                  <a:srgbClr val="EFEFEF"/>
                </a:solidFill>
                <a:latin typeface="Lucida Sans Unicode"/>
                <a:cs typeface="Lucida Sans Unicode"/>
              </a:rPr>
              <a:t>Gen</a:t>
            </a:r>
            <a:r>
              <a:rPr dirty="0" sz="1550" spc="-25">
                <a:solidFill>
                  <a:srgbClr val="EFEFEF"/>
                </a:solidFill>
                <a:latin typeface="Lucida Sans Unicode"/>
                <a:cs typeface="Lucida Sans Unicode"/>
              </a:rPr>
              <a:t> AI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6492" y="2662173"/>
            <a:ext cx="5563870" cy="281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Submitted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partial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fulfillment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requirements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award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degree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400">
              <a:latin typeface="Times New Roman"/>
              <a:cs typeface="Times New Roman"/>
            </a:endParaRPr>
          </a:p>
          <a:p>
            <a:pPr marL="1971039" marR="1949450" indent="348615">
              <a:lnSpc>
                <a:spcPct val="150700"/>
              </a:lnSpc>
            </a:pPr>
            <a:r>
              <a:rPr dirty="0" sz="1400" spc="-10" b="1">
                <a:latin typeface="Times New Roman"/>
                <a:cs typeface="Times New Roman"/>
              </a:rPr>
              <a:t>B-</a:t>
            </a:r>
            <a:r>
              <a:rPr dirty="0" sz="1400" spc="-25" b="1">
                <a:latin typeface="Times New Roman"/>
                <a:cs typeface="Times New Roman"/>
              </a:rPr>
              <a:t>Tech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CSE </a:t>
            </a:r>
            <a:r>
              <a:rPr dirty="0" sz="1400" b="1">
                <a:latin typeface="Times New Roman"/>
                <a:cs typeface="Times New Roman"/>
              </a:rPr>
              <a:t>Data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Science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ML</a:t>
            </a:r>
            <a:endParaRPr sz="1400">
              <a:latin typeface="Times New Roman"/>
              <a:cs typeface="Times New Roman"/>
            </a:endParaRPr>
          </a:p>
          <a:p>
            <a:pPr marL="2292350">
              <a:lnSpc>
                <a:spcPct val="100000"/>
              </a:lnSpc>
              <a:spcBef>
                <a:spcPts val="865"/>
              </a:spcBef>
            </a:pPr>
            <a:r>
              <a:rPr dirty="0" sz="1400" b="1">
                <a:latin typeface="Times New Roman"/>
                <a:cs typeface="Times New Roman"/>
              </a:rPr>
              <a:t>Submitted</a:t>
            </a:r>
            <a:r>
              <a:rPr dirty="0" sz="1400" spc="-25" b="1">
                <a:latin typeface="Times New Roman"/>
                <a:cs typeface="Times New Roman"/>
              </a:rPr>
              <a:t> to</a:t>
            </a:r>
            <a:endParaRPr sz="1400">
              <a:latin typeface="Times New Roman"/>
              <a:cs typeface="Times New Roman"/>
            </a:endParaRPr>
          </a:p>
          <a:p>
            <a:pPr algn="ctr" marL="1130935" marR="1116965">
              <a:lnSpc>
                <a:spcPct val="301400"/>
              </a:lnSpc>
              <a:spcBef>
                <a:spcPts val="10"/>
              </a:spcBef>
            </a:pPr>
            <a:r>
              <a:rPr dirty="0" sz="1400" spc="-30" b="1">
                <a:latin typeface="Times New Roman"/>
                <a:cs typeface="Times New Roman"/>
              </a:rPr>
              <a:t>LOVELY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PROFESSIONAL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UNIVERSITY </a:t>
            </a:r>
            <a:r>
              <a:rPr dirty="0" sz="1400" spc="-20" b="1">
                <a:latin typeface="Times New Roman"/>
                <a:cs typeface="Times New Roman"/>
              </a:rPr>
              <a:t>PHAGWARA,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PUNJAB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58339" y="7665567"/>
            <a:ext cx="2645410" cy="163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0020" marR="151765">
              <a:lnSpc>
                <a:spcPct val="1514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From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10/06/2025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to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30/07/2025 SUBMITTED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12700" marR="5080">
              <a:lnSpc>
                <a:spcPct val="151400"/>
              </a:lnSpc>
            </a:pPr>
            <a:r>
              <a:rPr dirty="0" sz="1400" b="1">
                <a:latin typeface="Times New Roman"/>
                <a:cs typeface="Times New Roman"/>
              </a:rPr>
              <a:t>Name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student: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Mithlesh</a:t>
            </a:r>
            <a:r>
              <a:rPr dirty="0" sz="1400" spc="-20" b="1">
                <a:latin typeface="Times New Roman"/>
                <a:cs typeface="Times New Roman"/>
              </a:rPr>
              <a:t> Kumar </a:t>
            </a:r>
            <a:r>
              <a:rPr dirty="0" sz="1400" b="1">
                <a:latin typeface="Times New Roman"/>
                <a:cs typeface="Times New Roman"/>
              </a:rPr>
              <a:t>Registration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Number: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12325796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909" y="5881339"/>
            <a:ext cx="2978412" cy="1275543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145663" y="888238"/>
            <a:ext cx="1271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Certification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81098" y="6034404"/>
            <a:ext cx="3211195" cy="287020"/>
          </a:xfrm>
          <a:prstGeom prst="rect">
            <a:avLst/>
          </a:prstGeom>
          <a:solidFill>
            <a:srgbClr val="1A1A1A"/>
          </a:solidFill>
        </p:spPr>
        <p:txBody>
          <a:bodyPr wrap="square" lIns="0" tIns="285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5"/>
              </a:spcBef>
            </a:pPr>
            <a:r>
              <a:rPr dirty="0" sz="1500">
                <a:solidFill>
                  <a:srgbClr val="EFEFEF"/>
                </a:solidFill>
                <a:latin typeface="Lucida Sans Unicode"/>
                <a:cs typeface="Lucida Sans Unicode"/>
              </a:rPr>
              <a:t>Certificate</a:t>
            </a:r>
            <a:r>
              <a:rPr dirty="0" sz="1500" spc="90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10">
                <a:solidFill>
                  <a:srgbClr val="EFEFEF"/>
                </a:solidFill>
                <a:latin typeface="Lucida Sans Unicode"/>
                <a:cs typeface="Lucida Sans Unicode"/>
              </a:rPr>
              <a:t>ID:</a:t>
            </a:r>
            <a:r>
              <a:rPr dirty="0" sz="1500" spc="85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40">
                <a:solidFill>
                  <a:srgbClr val="EFEFEF"/>
                </a:solidFill>
                <a:latin typeface="Lucida Sans Unicode"/>
                <a:cs typeface="Lucida Sans Unicode"/>
              </a:rPr>
              <a:t>FLAMES25MERN2052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275" y="1619757"/>
            <a:ext cx="6458584" cy="404812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07919" y="1209802"/>
            <a:ext cx="17456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Table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91488" y="2266441"/>
          <a:ext cx="4673600" cy="2106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020"/>
                <a:gridCol w="3098800"/>
                <a:gridCol w="951229"/>
              </a:tblGrid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S.No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Title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7749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Page.no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0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Student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Declaration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2.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Acknowledgement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3.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Abstract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4.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0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Internship</a:t>
                      </a:r>
                      <a:r>
                        <a:rPr dirty="0" sz="14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4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details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5.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400" spc="-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 b="1">
                          <a:latin typeface="Times New Roman"/>
                          <a:cs typeface="Times New Roman"/>
                        </a:rPr>
                        <a:t>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6.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Screenshots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555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9-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7.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0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Skills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Gained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marL="68580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8.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55"/>
                        </a:lnSpc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dirty="0" sz="1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b="1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Solutions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1454">
                <a:tc>
                  <a:txBody>
                    <a:bodyPr/>
                    <a:lstStyle/>
                    <a:p>
                      <a:pPr marL="68580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9.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570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Conclusions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41802" y="889761"/>
            <a:ext cx="207581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Calibri"/>
                <a:cs typeface="Calibri"/>
              </a:rPr>
              <a:t>Student</a:t>
            </a:r>
            <a:r>
              <a:rPr dirty="0" u="sng" sz="2000" spc="-8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spc="-1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Calibri"/>
                <a:cs typeface="Calibri"/>
              </a:rPr>
              <a:t>Declaration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598421"/>
            <a:ext cx="5690870" cy="2229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latin typeface="Times New Roman"/>
                <a:cs typeface="Times New Roman"/>
              </a:rPr>
              <a:t>To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whom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ever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may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concern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3299"/>
              </a:lnSpc>
            </a:pPr>
            <a:r>
              <a:rPr dirty="0" sz="1200">
                <a:latin typeface="Times New Roman"/>
                <a:cs typeface="Times New Roman"/>
              </a:rPr>
              <a:t>I,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Mithlesh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Kumar,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Redg Num-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12304831,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hereby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declare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“Full </a:t>
            </a:r>
            <a:r>
              <a:rPr dirty="0" sz="1200">
                <a:latin typeface="Times New Roman"/>
                <a:cs typeface="Times New Roman"/>
              </a:rPr>
              <a:t>Stack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(MERN)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Gen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AI”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June,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2025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30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July,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2025,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original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partial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fulfilment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requirements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award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degree,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B.Tech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>
                <a:latin typeface="Times New Roman"/>
                <a:cs typeface="Times New Roman"/>
              </a:rPr>
              <a:t>(Computer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Engineering).</a:t>
            </a:r>
            <a:endParaRPr sz="1200">
              <a:latin typeface="Times New Roman"/>
              <a:cs typeface="Times New Roman"/>
            </a:endParaRPr>
          </a:p>
          <a:p>
            <a:pPr marL="12700" marR="3329940">
              <a:lnSpc>
                <a:spcPts val="2290"/>
              </a:lnSpc>
              <a:spcBef>
                <a:spcPts val="219"/>
              </a:spcBef>
            </a:pPr>
            <a:r>
              <a:rPr dirty="0" sz="1200">
                <a:latin typeface="Times New Roman"/>
                <a:cs typeface="Times New Roman"/>
              </a:rPr>
              <a:t>Name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Student: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Mithlesh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Kumar </a:t>
            </a:r>
            <a:r>
              <a:rPr dirty="0" sz="1200">
                <a:latin typeface="Times New Roman"/>
                <a:cs typeface="Times New Roman"/>
              </a:rPr>
              <a:t>Registration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12325796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200" spc="-10">
                <a:latin typeface="Times New Roman"/>
                <a:cs typeface="Times New Roman"/>
              </a:rPr>
              <a:t>Dated: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August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10,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2025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744845" cy="6160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spc="-10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Calibri"/>
                <a:cs typeface="Calibri"/>
              </a:rPr>
              <a:t>Acknowledgement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5900"/>
              </a:lnSpc>
              <a:spcBef>
                <a:spcPts val="1700"/>
              </a:spcBef>
            </a:pP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express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sincere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gratitude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opportunity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undergo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Summer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Internship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Full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Stack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(MERN)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with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Gen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AI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training, practical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sessions,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guidance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1.5-month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program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been </a:t>
            </a:r>
            <a:r>
              <a:rPr dirty="0" sz="1200">
                <a:latin typeface="Times New Roman"/>
                <a:cs typeface="Times New Roman"/>
              </a:rPr>
              <a:t>immensely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understanding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stack development.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program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equipped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essential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applied </a:t>
            </a:r>
            <a:r>
              <a:rPr dirty="0" sz="1200">
                <a:latin typeface="Times New Roman"/>
                <a:cs typeface="Times New Roman"/>
              </a:rPr>
              <a:t>directly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experience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enriching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transformative. </a:t>
            </a:r>
            <a:r>
              <a:rPr dirty="0" sz="1200">
                <a:latin typeface="Times New Roman"/>
                <a:cs typeface="Times New Roman"/>
              </a:rPr>
              <a:t>Special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Mr.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Piyush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Khandelwal(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Founder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W3grads),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Mr.Naman </a:t>
            </a:r>
            <a:r>
              <a:rPr dirty="0" sz="1200" b="1">
                <a:latin typeface="Times New Roman"/>
                <a:cs typeface="Times New Roman"/>
              </a:rPr>
              <a:t>Sharma(Founder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Angaar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batch),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Mr.Divyanshu</a:t>
            </a:r>
            <a:r>
              <a:rPr dirty="0" sz="1200" spc="-10" b="1">
                <a:latin typeface="Times New Roman"/>
                <a:cs typeface="Times New Roman"/>
              </a:rPr>
              <a:t> Khandelwal(co-</a:t>
            </a:r>
            <a:r>
              <a:rPr dirty="0" sz="1200" b="1">
                <a:latin typeface="Times New Roman"/>
                <a:cs typeface="Times New Roman"/>
              </a:rPr>
              <a:t>founder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Anga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ar </a:t>
            </a:r>
            <a:r>
              <a:rPr dirty="0" sz="1200" b="1">
                <a:latin typeface="Times New Roman"/>
                <a:cs typeface="Times New Roman"/>
              </a:rPr>
              <a:t>batch)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deeply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thankful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mentors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W3Grades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continuous </a:t>
            </a:r>
            <a:r>
              <a:rPr dirty="0" sz="1200">
                <a:latin typeface="Times New Roman"/>
                <a:cs typeface="Times New Roman"/>
              </a:rPr>
              <a:t>support,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feedback,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encouragement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throughout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in-</a:t>
            </a:r>
            <a:r>
              <a:rPr dirty="0" sz="1200" spc="-10">
                <a:latin typeface="Times New Roman"/>
                <a:cs typeface="Times New Roman"/>
              </a:rPr>
              <a:t>depth </a:t>
            </a:r>
            <a:r>
              <a:rPr dirty="0" sz="1200">
                <a:latin typeface="Times New Roman"/>
                <a:cs typeface="Times New Roman"/>
              </a:rPr>
              <a:t>knowledge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industry-</a:t>
            </a:r>
            <a:r>
              <a:rPr dirty="0" sz="1200">
                <a:latin typeface="Times New Roman"/>
                <a:cs typeface="Times New Roman"/>
              </a:rPr>
              <a:t>oriented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teaching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gain</a:t>
            </a:r>
            <a:r>
              <a:rPr dirty="0" sz="1200" spc="-10">
                <a:latin typeface="Times New Roman"/>
                <a:cs typeface="Times New Roman"/>
              </a:rPr>
              <a:t> hands-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experience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like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HTML,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CSS,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JavaScript,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React.js,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Node.js,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Express.js,</a:t>
            </a:r>
            <a:r>
              <a:rPr dirty="0" sz="1200" spc="-25" b="1">
                <a:latin typeface="Times New Roman"/>
                <a:cs typeface="Times New Roman"/>
              </a:rPr>
              <a:t> and </a:t>
            </a:r>
            <a:r>
              <a:rPr dirty="0" sz="1200" spc="-10" b="1">
                <a:latin typeface="Times New Roman"/>
                <a:cs typeface="Times New Roman"/>
              </a:rPr>
              <a:t>MongoDB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6510">
              <a:lnSpc>
                <a:spcPct val="95800"/>
              </a:lnSpc>
            </a:pPr>
            <a:r>
              <a:rPr dirty="0" sz="1200">
                <a:latin typeface="Times New Roman"/>
                <a:cs typeface="Times New Roman"/>
              </a:rPr>
              <a:t>Additionally,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deeply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thankful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faculty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members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Lovely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Professional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University, </a:t>
            </a:r>
            <a:r>
              <a:rPr dirty="0" sz="1200">
                <a:latin typeface="Times New Roman"/>
                <a:cs typeface="Times New Roman"/>
              </a:rPr>
              <a:t>especially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department,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unwavering encouragement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mentorship.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advice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execution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me </a:t>
            </a:r>
            <a:r>
              <a:rPr dirty="0" sz="1200">
                <a:latin typeface="Times New Roman"/>
                <a:cs typeface="Times New Roman"/>
              </a:rPr>
              <a:t>align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goals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academic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seamless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outcomes.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constructive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feedback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university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mentors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progress </a:t>
            </a:r>
            <a:r>
              <a:rPr dirty="0" sz="1200">
                <a:latin typeface="Times New Roman"/>
                <a:cs typeface="Times New Roman"/>
              </a:rPr>
              <a:t>reviews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instrumental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refining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approach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problem-</a:t>
            </a:r>
            <a:r>
              <a:rPr dirty="0" sz="1200">
                <a:latin typeface="Times New Roman"/>
                <a:cs typeface="Times New Roman"/>
              </a:rPr>
              <a:t>solving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development. </a:t>
            </a:r>
            <a:r>
              <a:rPr dirty="0" sz="1200">
                <a:latin typeface="Times New Roman"/>
                <a:cs typeface="Times New Roman"/>
              </a:rPr>
              <a:t>Furthermore,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extend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appreciation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learning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resources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offered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W3grads,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facilitated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sessions,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problem-</a:t>
            </a:r>
            <a:r>
              <a:rPr dirty="0" sz="1200">
                <a:latin typeface="Times New Roman"/>
                <a:cs typeface="Times New Roman"/>
              </a:rPr>
              <a:t>solving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exercises,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collaborative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virtual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engaging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effective.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these </a:t>
            </a:r>
            <a:r>
              <a:rPr dirty="0" sz="1200">
                <a:latin typeface="Times New Roman"/>
                <a:cs typeface="Times New Roman"/>
              </a:rPr>
              <a:t>resources,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navigating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challenges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competitive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programming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simulator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daunting.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Finally,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profoundly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grateful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family</a:t>
            </a:r>
            <a:r>
              <a:rPr dirty="0" sz="1200" spc="-25">
                <a:latin typeface="Times New Roman"/>
                <a:cs typeface="Times New Roman"/>
              </a:rPr>
              <a:t> and </a:t>
            </a:r>
            <a:r>
              <a:rPr dirty="0" sz="1200">
                <a:latin typeface="Times New Roman"/>
                <a:cs typeface="Times New Roman"/>
              </a:rPr>
              <a:t>friends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constant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patience,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motivation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intensive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period.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Their encouragement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late-</a:t>
            </a:r>
            <a:r>
              <a:rPr dirty="0" sz="1200">
                <a:latin typeface="Times New Roman"/>
                <a:cs typeface="Times New Roman"/>
              </a:rPr>
              <a:t>night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sessions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moments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frustration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kept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focused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determined,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reminding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importance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perseverance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achieving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professional </a:t>
            </a:r>
            <a:r>
              <a:rPr dirty="0" sz="1200">
                <a:latin typeface="Times New Roman"/>
                <a:cs typeface="Times New Roman"/>
              </a:rPr>
              <a:t>milestones.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collective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the </a:t>
            </a:r>
            <a:r>
              <a:rPr dirty="0" sz="1200">
                <a:latin typeface="Times New Roman"/>
                <a:cs typeface="Times New Roman"/>
              </a:rPr>
              <a:t>associated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truly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rewarding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accomplishment.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Mithlesh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Kumar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2634" y="885189"/>
            <a:ext cx="970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Abstract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706626"/>
            <a:ext cx="5726430" cy="10845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overview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Summer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Internship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1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month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20</a:t>
            </a:r>
            <a:r>
              <a:rPr dirty="0" sz="1200" spc="-20" b="1">
                <a:latin typeface="Times New Roman"/>
                <a:cs typeface="Times New Roman"/>
              </a:rPr>
              <a:t> days </a:t>
            </a:r>
            <a:r>
              <a:rPr dirty="0" sz="1200">
                <a:latin typeface="Times New Roman"/>
                <a:cs typeface="Times New Roman"/>
              </a:rPr>
              <a:t>undertaken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W3Grades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focusing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Full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Stack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using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MERN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stack </a:t>
            </a:r>
            <a:r>
              <a:rPr dirty="0" sz="1200">
                <a:latin typeface="Times New Roman"/>
                <a:cs typeface="Times New Roman"/>
              </a:rPr>
              <a:t>along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introduction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Generative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AI</a:t>
            </a:r>
            <a:r>
              <a:rPr dirty="0" sz="1200">
                <a:latin typeface="Times New Roman"/>
                <a:cs typeface="Times New Roman"/>
              </a:rPr>
              <a:t>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primary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knowledge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practical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technologies, </a:t>
            </a:r>
            <a:r>
              <a:rPr dirty="0" sz="1200">
                <a:latin typeface="Times New Roman"/>
                <a:cs typeface="Times New Roman"/>
              </a:rPr>
              <a:t>including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HTML,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CSS,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JavaScript,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React.js,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Node.js,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Express.js,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MongoDB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Gen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AI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exploring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emerging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AI-</a:t>
            </a:r>
            <a:r>
              <a:rPr dirty="0" sz="1200" b="1">
                <a:latin typeface="Times New Roman"/>
                <a:cs typeface="Times New Roman"/>
              </a:rPr>
              <a:t>powered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applications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3288918"/>
            <a:ext cx="5738495" cy="108458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capstone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titled </a:t>
            </a:r>
            <a:r>
              <a:rPr dirty="0" sz="1200" b="1">
                <a:latin typeface="Times New Roman"/>
                <a:cs typeface="Times New Roman"/>
              </a:rPr>
              <a:t>StorySprout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story </a:t>
            </a:r>
            <a:r>
              <a:rPr dirty="0" sz="1200">
                <a:latin typeface="Times New Roman"/>
                <a:cs typeface="Times New Roman"/>
              </a:rPr>
              <a:t>generator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,which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group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5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members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member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chance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professional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leadership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utilizes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MERN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stack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seamless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frontend–backend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incorporates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generative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AI </a:t>
            </a:r>
            <a:r>
              <a:rPr dirty="0" sz="1200">
                <a:latin typeface="Times New Roman"/>
                <a:cs typeface="Times New Roman"/>
              </a:rPr>
              <a:t>concepts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engaging,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dynamic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narratives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strengthened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skills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UI/UX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integration,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problem-solving.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4870830"/>
            <a:ext cx="5709285" cy="108521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95900"/>
              </a:lnSpc>
              <a:spcBef>
                <a:spcPts val="1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training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combined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theoretical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concepts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hands-on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implementation,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understand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life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cycle.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Everyday,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scrum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meeting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was </a:t>
            </a:r>
            <a:r>
              <a:rPr dirty="0" sz="1200">
                <a:latin typeface="Times New Roman"/>
                <a:cs typeface="Times New Roman"/>
              </a:rPr>
              <a:t>conducted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mentor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understanding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flow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improved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ability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independently,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deadlines,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adapt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quickly. </a:t>
            </a:r>
            <a:r>
              <a:rPr dirty="0" sz="1200">
                <a:latin typeface="Times New Roman"/>
                <a:cs typeface="Times New Roman"/>
              </a:rPr>
              <a:t>Overall,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internship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enriching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experience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enhanced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technical </a:t>
            </a:r>
            <a:r>
              <a:rPr dirty="0" sz="1200">
                <a:latin typeface="Times New Roman"/>
                <a:cs typeface="Times New Roman"/>
              </a:rPr>
              <a:t>expertise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insight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world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488694" y="885189"/>
            <a:ext cx="45847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Internship</a:t>
            </a:r>
            <a:r>
              <a:rPr dirty="0" u="sng" sz="20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Learning</a:t>
            </a:r>
            <a:r>
              <a:rPr dirty="0" u="sng" sz="20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details</a:t>
            </a:r>
            <a:r>
              <a:rPr dirty="0" u="sng" sz="20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(weekly</a:t>
            </a:r>
            <a:r>
              <a:rPr dirty="0" u="sng" sz="20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basis)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726437"/>
            <a:ext cx="5312410" cy="6186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Calibri"/>
                <a:cs typeface="Calibri"/>
              </a:rPr>
              <a:t>Week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1: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Introduction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&amp;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Frontend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Basics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63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Orientations,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HTML5,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CSS3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3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Responsive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10">
                <a:latin typeface="Times New Roman"/>
                <a:cs typeface="Times New Roman"/>
              </a:rPr>
              <a:t> Tailwind/Bootstrap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3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Git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Github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00" spc="-10" b="1">
                <a:latin typeface="Calibri"/>
                <a:cs typeface="Calibri"/>
              </a:rPr>
              <a:t>Week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2: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Fundamental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of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Javascript</a:t>
            </a:r>
            <a:endParaRPr sz="1400">
              <a:latin typeface="Calibri"/>
              <a:cs typeface="Calibri"/>
            </a:endParaRPr>
          </a:p>
          <a:p>
            <a:pPr marL="469265" marR="5080" indent="-228600">
              <a:lnSpc>
                <a:spcPct val="101699"/>
              </a:lnSpc>
              <a:spcBef>
                <a:spcPts val="147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Learned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JavaScript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fundamentals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variables,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loops,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ES6 </a:t>
            </a:r>
            <a:r>
              <a:rPr dirty="0" sz="1200" spc="-10">
                <a:latin typeface="Calibri"/>
                <a:cs typeface="Calibri"/>
              </a:rPr>
              <a:t>features.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Gained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skills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manipulation,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event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handling,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validation.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85"/>
              </a:spcBef>
              <a:buSzPct val="116666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Worked</a:t>
            </a:r>
            <a:r>
              <a:rPr dirty="0" sz="1200">
                <a:latin typeface="Calibri"/>
                <a:cs typeface="Calibri"/>
              </a:rPr>
              <a:t> with </a:t>
            </a:r>
            <a:r>
              <a:rPr dirty="0" sz="1200" spc="-10">
                <a:latin typeface="Calibri"/>
                <a:cs typeface="Calibri"/>
              </a:rPr>
              <a:t>asynchronous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programming,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</a:t>
            </a:r>
            <a:r>
              <a:rPr dirty="0" sz="1200" spc="-10">
                <a:latin typeface="Calibri"/>
                <a:cs typeface="Calibri"/>
              </a:rPr>
              <a:t> fetching,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</a:t>
            </a:r>
            <a:r>
              <a:rPr dirty="0" sz="1200" spc="-10">
                <a:latin typeface="Calibri"/>
                <a:cs typeface="Calibri"/>
              </a:rPr>
              <a:t> handling.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Week</a:t>
            </a:r>
            <a:r>
              <a:rPr dirty="0" sz="1400" spc="-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3:</a:t>
            </a:r>
            <a:r>
              <a:rPr dirty="0" sz="1400" spc="-6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React.js</a:t>
            </a:r>
            <a:r>
              <a:rPr dirty="0" sz="1400" spc="-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Development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65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Components,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Hooks,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Routing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Week</a:t>
            </a:r>
            <a:r>
              <a:rPr dirty="0" sz="1400" spc="-4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4:</a:t>
            </a:r>
            <a:r>
              <a:rPr dirty="0" sz="1400" spc="-4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Backend</a:t>
            </a:r>
            <a:r>
              <a:rPr dirty="0" sz="1400" spc="-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with</a:t>
            </a:r>
            <a:r>
              <a:rPr dirty="0" sz="1400" spc="-3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Node.js</a:t>
            </a:r>
            <a:r>
              <a:rPr dirty="0" sz="1400" spc="-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&amp;</a:t>
            </a:r>
            <a:r>
              <a:rPr dirty="0" sz="1400" spc="-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Express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639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Handling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requests,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routes,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middleware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Week</a:t>
            </a:r>
            <a:r>
              <a:rPr dirty="0" sz="1400" spc="-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5-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6:</a:t>
            </a:r>
            <a:r>
              <a:rPr dirty="0" sz="1400" spc="-5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MongoDB</a:t>
            </a:r>
            <a:r>
              <a:rPr dirty="0" sz="1400" spc="-5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630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CRUD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operations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35"/>
              </a:spcBef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Mongoose </a:t>
            </a:r>
            <a:r>
              <a:rPr dirty="0" sz="1200" spc="-10">
                <a:latin typeface="Times New Roman"/>
                <a:cs typeface="Times New Roman"/>
              </a:rPr>
              <a:t>schema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Week</a:t>
            </a:r>
            <a:r>
              <a:rPr dirty="0" sz="1400" spc="-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6-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7:</a:t>
            </a:r>
            <a:r>
              <a:rPr dirty="0" sz="1400" spc="-4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Full</a:t>
            </a:r>
            <a:r>
              <a:rPr dirty="0" sz="1400" spc="-30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E4660"/>
                </a:solidFill>
                <a:latin typeface="Calibri"/>
                <a:cs typeface="Calibri"/>
              </a:rPr>
              <a:t>Stack</a:t>
            </a:r>
            <a:r>
              <a:rPr dirty="0" sz="1400" spc="-35" b="1">
                <a:solidFill>
                  <a:srgbClr val="0E466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E4660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ts val="1410"/>
              </a:lnSpc>
              <a:spcBef>
                <a:spcPts val="1555"/>
              </a:spcBef>
              <a:buSzPct val="91666"/>
              <a:buFont typeface="Symbol"/>
              <a:buChar char="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Combining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backend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380"/>
              </a:lnSpc>
              <a:buSzPct val="91666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Authentication </a:t>
            </a:r>
            <a:r>
              <a:rPr dirty="0" sz="1200">
                <a:latin typeface="Times New Roman"/>
                <a:cs typeface="Times New Roman"/>
              </a:rPr>
              <a:t>(JWT/Google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Login)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ts val="1410"/>
              </a:lnSpc>
              <a:buSzPct val="91666"/>
              <a:buFont typeface="Symbol"/>
              <a:buChar char="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Deployment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5189"/>
            <a:ext cx="479361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34235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dirty="0" u="sng" sz="20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0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Work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600" b="1">
                <a:latin typeface="Times New Roman"/>
                <a:cs typeface="Times New Roman"/>
              </a:rPr>
              <a:t>Title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: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StorySprout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(AI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based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story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generator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websites)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1775206"/>
            <a:ext cx="5753100" cy="290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What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Is: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especially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kids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parents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few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(like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“a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lion,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moon,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treasure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hunt”)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children’s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written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instantly.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100" b="1">
                <a:latin typeface="Calibri"/>
                <a:cs typeface="Calibri"/>
              </a:rPr>
              <a:t>How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It</a:t>
            </a:r>
            <a:r>
              <a:rPr dirty="0" sz="1100" spc="-20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Works: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Calibri"/>
              <a:cs typeface="Calibri"/>
            </a:endParaRPr>
          </a:p>
          <a:p>
            <a:pPr marL="158750" indent="-111125">
              <a:lnSpc>
                <a:spcPct val="100000"/>
              </a:lnSpc>
              <a:buChar char="•"/>
              <a:tabLst>
                <a:tab pos="158750" algn="l"/>
              </a:tabLst>
            </a:pP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enters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basic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inputs: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characters,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setting,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maybe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group.</a:t>
            </a:r>
            <a:endParaRPr sz="1200">
              <a:latin typeface="Calibri"/>
              <a:cs typeface="Calibri"/>
            </a:endParaRPr>
          </a:p>
          <a:p>
            <a:pPr marL="12700" marR="97790" indent="111125">
              <a:lnSpc>
                <a:spcPct val="101699"/>
              </a:lnSpc>
              <a:spcBef>
                <a:spcPts val="1405"/>
              </a:spcBef>
              <a:buChar char="•"/>
              <a:tabLst>
                <a:tab pos="123825" algn="l"/>
              </a:tabLst>
            </a:pPr>
            <a:r>
              <a:rPr dirty="0" sz="1200">
                <a:latin typeface="Calibri"/>
                <a:cs typeface="Calibri"/>
              </a:rPr>
              <a:t>AI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story.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•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formats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storybook </a:t>
            </a:r>
            <a:r>
              <a:rPr dirty="0" sz="1200">
                <a:latin typeface="Calibri"/>
                <a:cs typeface="Calibri"/>
              </a:rPr>
              <a:t>style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(pages,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font, illustrations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 AI-generated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images).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100" spc="-10" b="1">
                <a:latin typeface="Calibri"/>
                <a:cs typeface="Calibri"/>
              </a:rPr>
              <a:t>Purpose: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Calibri"/>
              <a:cs typeface="Calibri"/>
            </a:endParaRPr>
          </a:p>
          <a:p>
            <a:pPr marL="12700" marR="61594">
              <a:lnSpc>
                <a:spcPct val="101699"/>
              </a:lnSpc>
            </a:pPr>
            <a:r>
              <a:rPr dirty="0" sz="1200">
                <a:latin typeface="Calibri"/>
                <a:cs typeface="Calibri"/>
              </a:rPr>
              <a:t>Helps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children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explore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creativity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improves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habits,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tool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for </a:t>
            </a:r>
            <a:r>
              <a:rPr dirty="0" sz="1200">
                <a:latin typeface="Calibri"/>
                <a:cs typeface="Calibri"/>
              </a:rPr>
              <a:t>parents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teachers.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5196966"/>
            <a:ext cx="1500505" cy="2506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latin typeface="Calibri"/>
                <a:cs typeface="Calibri"/>
              </a:rPr>
              <a:t>Technology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spc="-20" b="1">
                <a:latin typeface="Calibri"/>
                <a:cs typeface="Calibri"/>
              </a:rPr>
              <a:t>Used:</a:t>
            </a:r>
            <a:endParaRPr sz="1600">
              <a:latin typeface="Calibri"/>
              <a:cs typeface="Calibri"/>
            </a:endParaRPr>
          </a:p>
          <a:p>
            <a:pPr marL="420370" indent="-227965">
              <a:lnSpc>
                <a:spcPts val="1850"/>
              </a:lnSpc>
              <a:spcBef>
                <a:spcPts val="1430"/>
              </a:spcBef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HTML,</a:t>
            </a:r>
            <a:endParaRPr sz="1200">
              <a:latin typeface="Times New Roman"/>
              <a:cs typeface="Times New Roman"/>
            </a:endParaRPr>
          </a:p>
          <a:p>
            <a:pPr marL="458470" indent="-266065">
              <a:lnSpc>
                <a:spcPts val="1780"/>
              </a:lnSpc>
              <a:buSzPct val="133333"/>
              <a:buFont typeface="Calibri"/>
              <a:buAutoNum type="arabicPeriod"/>
              <a:tabLst>
                <a:tab pos="458470" algn="l"/>
              </a:tabLst>
            </a:pPr>
            <a:r>
              <a:rPr dirty="0" sz="1200" spc="-20" b="1">
                <a:latin typeface="Times New Roman"/>
                <a:cs typeface="Times New Roman"/>
              </a:rPr>
              <a:t>CSS,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9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JavaScript,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0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React.js,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0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Node.js,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0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Express.js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0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MongoDB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789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b="1">
                <a:latin typeface="Times New Roman"/>
                <a:cs typeface="Times New Roman"/>
              </a:rPr>
              <a:t>Backend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part</a:t>
            </a:r>
            <a:endParaRPr sz="1200">
              <a:latin typeface="Times New Roman"/>
              <a:cs typeface="Times New Roman"/>
            </a:endParaRPr>
          </a:p>
          <a:p>
            <a:pPr marL="420370" indent="-227965">
              <a:lnSpc>
                <a:spcPts val="1855"/>
              </a:lnSpc>
              <a:buSzPct val="133333"/>
              <a:buFont typeface="Calibri"/>
              <a:buAutoNum type="arabicPeriod"/>
              <a:tabLst>
                <a:tab pos="420370" algn="l"/>
              </a:tabLst>
            </a:pPr>
            <a:r>
              <a:rPr dirty="0" sz="1200" spc="-20" b="1">
                <a:latin typeface="Times New Roman"/>
                <a:cs typeface="Times New Roman"/>
              </a:rPr>
              <a:t>Gen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8237"/>
            <a:ext cx="19678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Screenshots</a:t>
            </a:r>
            <a:r>
              <a:rPr dirty="0" u="sng" sz="16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Codes</a:t>
            </a:r>
            <a:r>
              <a:rPr dirty="0" u="sng" sz="160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07338" y="4805298"/>
            <a:ext cx="4946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Times New Roman"/>
                <a:cs typeface="Times New Roman"/>
              </a:rPr>
              <a:t>Index.html(main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SPA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-</a:t>
            </a:r>
            <a:r>
              <a:rPr dirty="0" sz="1600">
                <a:latin typeface="Times New Roman"/>
                <a:cs typeface="Times New Roman"/>
              </a:rPr>
              <a:t>single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69235" y="8666226"/>
            <a:ext cx="20224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Components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websites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1327149"/>
            <a:ext cx="6087109" cy="32893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580" y="5696203"/>
            <a:ext cx="6146800" cy="299783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7625">
              <a:lnSpc>
                <a:spcPts val="11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56915" y="4159122"/>
            <a:ext cx="10490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Routing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part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29482" y="8373617"/>
            <a:ext cx="11023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Backend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part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914399"/>
            <a:ext cx="6375400" cy="310515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950" y="5054345"/>
            <a:ext cx="6489700" cy="319468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697351" y="9917379"/>
            <a:ext cx="16891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96770" y="4159122"/>
            <a:ext cx="336740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u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terminal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,it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runs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local</a:t>
            </a:r>
            <a:r>
              <a:rPr dirty="0" sz="1600" spc="-20">
                <a:latin typeface="Times New Roman"/>
                <a:cs typeface="Times New Roman"/>
              </a:rPr>
              <a:t> host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351658" y="8373617"/>
            <a:ext cx="28581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Home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Storysprout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website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250" y="914399"/>
            <a:ext cx="6388100" cy="32766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" y="4876545"/>
            <a:ext cx="6496050" cy="346710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pc="-25"/>
              <a:t>1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7207" y="4514214"/>
            <a:ext cx="945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Login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2658" y="8612885"/>
            <a:ext cx="20961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Few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Sample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Stories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650" y="1268094"/>
            <a:ext cx="6216650" cy="3073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4050" y="5568822"/>
            <a:ext cx="6330950" cy="302831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34054" y="3925950"/>
            <a:ext cx="10934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Contact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page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5697092"/>
            <a:ext cx="5435600" cy="1159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Skills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Gained: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 indent="146050">
              <a:lnSpc>
                <a:spcPts val="1380"/>
              </a:lnSpc>
              <a:buFont typeface="Symbol"/>
              <a:buChar char=""/>
              <a:tabLst>
                <a:tab pos="158750" algn="l"/>
              </a:tabLst>
            </a:pPr>
            <a:r>
              <a:rPr dirty="0" sz="1200" spc="-10">
                <a:latin typeface="Times New Roman"/>
                <a:cs typeface="Times New Roman"/>
              </a:rPr>
              <a:t>Technical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(HTML,CSS,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Javascript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,React,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Node,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MongoDB,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handling,</a:t>
            </a:r>
            <a:r>
              <a:rPr dirty="0" sz="1200" spc="-20">
                <a:latin typeface="Times New Roman"/>
                <a:cs typeface="Times New Roman"/>
              </a:rPr>
              <a:t> Git,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200">
              <a:latin typeface="Times New Roman"/>
              <a:cs typeface="Times New Roman"/>
            </a:endParaRPr>
          </a:p>
          <a:p>
            <a:pPr marL="158750" indent="-146050">
              <a:lnSpc>
                <a:spcPct val="100000"/>
              </a:lnSpc>
              <a:buFont typeface="Symbol"/>
              <a:buChar char=""/>
              <a:tabLst>
                <a:tab pos="158750" algn="l"/>
              </a:tabLst>
            </a:pPr>
            <a:r>
              <a:rPr dirty="0" sz="1200">
                <a:latin typeface="Times New Roman"/>
                <a:cs typeface="Times New Roman"/>
              </a:rPr>
              <a:t>Soft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Skills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(time</a:t>
            </a:r>
            <a:r>
              <a:rPr dirty="0" sz="1200" spc="-10">
                <a:latin typeface="Times New Roman"/>
                <a:cs typeface="Times New Roman"/>
              </a:rPr>
              <a:t> management,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teamwork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problem-solving)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700" y="914399"/>
            <a:ext cx="6210300" cy="294449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9761"/>
            <a:ext cx="5593080" cy="1251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 spc="-25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Challenges</a:t>
            </a:r>
            <a:r>
              <a:rPr dirty="0" u="sng" sz="1400" spc="-10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&amp;</a:t>
            </a:r>
            <a:r>
              <a:rPr dirty="0" u="sng" sz="1400" spc="-30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solidFill>
                  <a:srgbClr val="0E4660"/>
                </a:solidFill>
                <a:uFill>
                  <a:solidFill>
                    <a:srgbClr val="0E4660"/>
                  </a:solidFill>
                </a:uFill>
                <a:latin typeface="Times New Roman"/>
                <a:cs typeface="Times New Roman"/>
              </a:rPr>
              <a:t>Solutions</a:t>
            </a:r>
            <a:endParaRPr sz="1400">
              <a:latin typeface="Times New Roman"/>
              <a:cs typeface="Times New Roman"/>
            </a:endParaRPr>
          </a:p>
          <a:p>
            <a:pPr marL="469265" marR="5080" indent="-228600">
              <a:lnSpc>
                <a:spcPts val="1620"/>
              </a:lnSpc>
              <a:spcBef>
                <a:spcPts val="15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Mention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difficulties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(debugging,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connecting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frontend-</a:t>
            </a:r>
            <a:r>
              <a:rPr dirty="0" sz="1400">
                <a:latin typeface="Times New Roman"/>
                <a:cs typeface="Times New Roman"/>
              </a:rPr>
              <a:t>backend,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learning curve)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ts val="1530"/>
              </a:lnSpc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Times New Roman"/>
                <a:cs typeface="Times New Roman"/>
              </a:rPr>
              <a:t>Solved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keeping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scrum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meetings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daily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group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4</a:t>
            </a:r>
            <a:endParaRPr sz="1400">
              <a:latin typeface="Times New Roman"/>
              <a:cs typeface="Times New Roman"/>
            </a:endParaRPr>
          </a:p>
          <a:p>
            <a:pPr marL="469265">
              <a:lnSpc>
                <a:spcPts val="1645"/>
              </a:lnSpc>
            </a:pPr>
            <a:r>
              <a:rPr dirty="0" sz="1400" spc="-10">
                <a:latin typeface="Times New Roman"/>
                <a:cs typeface="Times New Roman"/>
              </a:rPr>
              <a:t>members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pc="-25"/>
              <a:t>1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2666745"/>
            <a:ext cx="5659755" cy="306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400" spc="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Conclusions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95900"/>
              </a:lnSpc>
              <a:spcBef>
                <a:spcPts val="152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month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days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summer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internship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W3Grades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highly </a:t>
            </a:r>
            <a:r>
              <a:rPr dirty="0" sz="1400">
                <a:latin typeface="Times New Roman"/>
                <a:cs typeface="Times New Roman"/>
              </a:rPr>
              <a:t>enriching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experience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significantly </a:t>
            </a:r>
            <a:r>
              <a:rPr dirty="0" sz="1400">
                <a:latin typeface="Times New Roman"/>
                <a:cs typeface="Times New Roman"/>
              </a:rPr>
              <a:t>enhanced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technical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problem- </a:t>
            </a:r>
            <a:r>
              <a:rPr dirty="0" sz="1400">
                <a:latin typeface="Times New Roman"/>
                <a:cs typeface="Times New Roman"/>
              </a:rPr>
              <a:t>solving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skills.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gained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practical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knowledge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development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MERN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explored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Generative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concepts,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successfully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developed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a </a:t>
            </a:r>
            <a:r>
              <a:rPr dirty="0" sz="1400">
                <a:latin typeface="Times New Roman"/>
                <a:cs typeface="Times New Roman"/>
              </a:rPr>
              <a:t>functional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 i="1">
                <a:latin typeface="Times New Roman"/>
                <a:cs typeface="Times New Roman"/>
              </a:rPr>
              <a:t>StorySprout</a:t>
            </a:r>
            <a:r>
              <a:rPr dirty="0" sz="1400" spc="-10">
                <a:latin typeface="Times New Roman"/>
                <a:cs typeface="Times New Roman"/>
              </a:rPr>
              <a:t>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journey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10">
                <a:latin typeface="Times New Roman"/>
                <a:cs typeface="Times New Roman"/>
              </a:rPr>
              <a:t> strengthened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my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web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ability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world </a:t>
            </a:r>
            <a:r>
              <a:rPr dirty="0" sz="1400" spc="-10">
                <a:latin typeface="Times New Roman"/>
                <a:cs typeface="Times New Roman"/>
              </a:rPr>
              <a:t>applications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deployment.</a:t>
            </a:r>
            <a:endParaRPr sz="1400">
              <a:latin typeface="Times New Roman"/>
              <a:cs typeface="Times New Roman"/>
            </a:endParaRPr>
          </a:p>
          <a:p>
            <a:pPr algn="just" marL="12700" marR="6350">
              <a:lnSpc>
                <a:spcPct val="95700"/>
              </a:lnSpc>
              <a:spcBef>
                <a:spcPts val="1405"/>
              </a:spcBef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skills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experience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acquired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internship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serve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strong </a:t>
            </a:r>
            <a:r>
              <a:rPr dirty="0" sz="1400">
                <a:latin typeface="Times New Roman"/>
                <a:cs typeface="Times New Roman"/>
              </a:rPr>
              <a:t>foundation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career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software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development.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mastering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tools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frameworks,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now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better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equipped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contribute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innovative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projects, </a:t>
            </a:r>
            <a:r>
              <a:rPr dirty="0" sz="1400">
                <a:latin typeface="Times New Roman"/>
                <a:cs typeface="Times New Roman"/>
              </a:rPr>
              <a:t>adapt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emerging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pursue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opportunities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-25">
                <a:latin typeface="Times New Roman"/>
                <a:cs typeface="Times New Roman"/>
              </a:rPr>
              <a:t> and </a:t>
            </a:r>
            <a:r>
              <a:rPr dirty="0" sz="1400" spc="-10">
                <a:latin typeface="Times New Roman"/>
                <a:cs typeface="Times New Roman"/>
              </a:rPr>
              <a:t>AI-</a:t>
            </a:r>
            <a:r>
              <a:rPr dirty="0" sz="1400">
                <a:latin typeface="Times New Roman"/>
                <a:cs typeface="Times New Roman"/>
              </a:rPr>
              <a:t>driven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development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Sukhreet Kaur</dc:creator>
  <dcterms:created xsi:type="dcterms:W3CDTF">2025-10-11T06:14:10Z</dcterms:created>
  <dcterms:modified xsi:type="dcterms:W3CDTF">2025-10-11T06:14:10Z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2025-10-11T00:00:00Z</vt:filetime>
  </property>
  <property fmtid="{D5CDD505-2E9C-101B-9397-08002B2CF9AE}" pid="5" name="Producer">
    <vt:lpwstr>Microsoft® Word LTSC</vt:lpwstr>
  </property>
</Properties>
</file>